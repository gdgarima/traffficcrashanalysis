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6914A-D243-6AE7-19F5-995AC0786623}" v="454" dt="2024-11-06T05:33:25.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11/6/2024</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3507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11/6/2024</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755165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11/6/2024</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696640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11/6/2024</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32298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11/6/2024</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815814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11/6/2024</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19651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11/6/2024</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869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11/6/2024</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805419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11/6/2024</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26237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11/6/2024</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58679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11/6/2024</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24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11/6/2024</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214068"/>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55" r:id="rId6"/>
    <p:sldLayoutId id="2147483851" r:id="rId7"/>
    <p:sldLayoutId id="2147483852" r:id="rId8"/>
    <p:sldLayoutId id="2147483853" r:id="rId9"/>
    <p:sldLayoutId id="2147483854" r:id="rId10"/>
    <p:sldLayoutId id="2147483856"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Rectangle 49">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4" name="Picture 3" descr="Traffic light trails at night">
            <a:extLst>
              <a:ext uri="{FF2B5EF4-FFF2-40B4-BE49-F238E27FC236}">
                <a16:creationId xmlns:a16="http://schemas.microsoft.com/office/drawing/2014/main" id="{5E238A78-7AA7-A557-5128-4CF32730C002}"/>
              </a:ext>
            </a:extLst>
          </p:cNvPr>
          <p:cNvPicPr>
            <a:picLocks noChangeAspect="1"/>
          </p:cNvPicPr>
          <p:nvPr/>
        </p:nvPicPr>
        <p:blipFill>
          <a:blip r:embed="rId2"/>
          <a:srcRect l="12586" r="22232" b="1"/>
          <a:stretch/>
        </p:blipFill>
        <p:spPr>
          <a:xfrm>
            <a:off x="5958018" y="508090"/>
            <a:ext cx="5709726" cy="5846989"/>
          </a:xfrm>
          <a:prstGeom prst="rect">
            <a:avLst/>
          </a:prstGeom>
        </p:spPr>
      </p:pic>
      <p:sp>
        <p:nvSpPr>
          <p:cNvPr id="2" name="Title 1">
            <a:extLst>
              <a:ext uri="{FF2B5EF4-FFF2-40B4-BE49-F238E27FC236}">
                <a16:creationId xmlns:a16="http://schemas.microsoft.com/office/drawing/2014/main" id="{20CB6BE2-5C65-C5A6-FC6D-254DDC9F9505}"/>
              </a:ext>
            </a:extLst>
          </p:cNvPr>
          <p:cNvSpPr>
            <a:spLocks noGrp="1"/>
          </p:cNvSpPr>
          <p:nvPr>
            <p:ph type="ctrTitle"/>
          </p:nvPr>
        </p:nvSpPr>
        <p:spPr>
          <a:xfrm>
            <a:off x="517870" y="976159"/>
            <a:ext cx="4918939" cy="2703211"/>
          </a:xfrm>
        </p:spPr>
        <p:txBody>
          <a:bodyPr vert="horz" lIns="91440" tIns="45720" rIns="91440" bIns="45720" rtlCol="0" anchor="t">
            <a:noAutofit/>
          </a:bodyPr>
          <a:lstStyle/>
          <a:p>
            <a:pPr>
              <a:lnSpc>
                <a:spcPct val="110000"/>
              </a:lnSpc>
              <a:spcBef>
                <a:spcPts val="1000"/>
              </a:spcBef>
            </a:pPr>
            <a:r>
              <a:rPr lang="en-US" sz="4400" dirty="0">
                <a:ea typeface="+mn-ea"/>
                <a:cs typeface="+mn-cs"/>
              </a:rPr>
              <a:t>Traffic Crash Analysis on Chicago Dataset</a:t>
            </a:r>
          </a:p>
        </p:txBody>
      </p:sp>
      <p:sp>
        <p:nvSpPr>
          <p:cNvPr id="3" name="Subtitle 2">
            <a:extLst>
              <a:ext uri="{FF2B5EF4-FFF2-40B4-BE49-F238E27FC236}">
                <a16:creationId xmlns:a16="http://schemas.microsoft.com/office/drawing/2014/main" id="{EE72F5D0-72A9-CABA-270D-4E40C74480F4}"/>
              </a:ext>
            </a:extLst>
          </p:cNvPr>
          <p:cNvSpPr>
            <a:spLocks noGrp="1"/>
          </p:cNvSpPr>
          <p:nvPr>
            <p:ph type="subTitle" idx="1"/>
          </p:nvPr>
        </p:nvSpPr>
        <p:spPr>
          <a:xfrm>
            <a:off x="517871" y="2578608"/>
            <a:ext cx="4672966" cy="3767328"/>
          </a:xfrm>
        </p:spPr>
        <p:txBody>
          <a:bodyPr vert="horz" lIns="91440" tIns="45720" rIns="91440" bIns="45720" rtlCol="0">
            <a:normAutofit/>
          </a:bodyPr>
          <a:lstStyle/>
          <a:p>
            <a:pPr>
              <a:lnSpc>
                <a:spcPct val="110000"/>
              </a:lnSpc>
            </a:pPr>
            <a:r>
              <a:rPr lang="en-US" sz="2000" b="1" i="0" dirty="0"/>
              <a:t>Group Name: </a:t>
            </a:r>
            <a:r>
              <a:rPr lang="en-US" sz="2000" i="0" dirty="0"/>
              <a:t>Data Pioneers</a:t>
            </a:r>
          </a:p>
          <a:p>
            <a:pPr>
              <a:lnSpc>
                <a:spcPct val="110000"/>
              </a:lnSpc>
            </a:pPr>
            <a:r>
              <a:rPr lang="en-US" sz="2000" b="1" i="0" dirty="0"/>
              <a:t>Group Members:</a:t>
            </a:r>
          </a:p>
          <a:p>
            <a:pPr>
              <a:lnSpc>
                <a:spcPct val="110000"/>
              </a:lnSpc>
            </a:pPr>
            <a:r>
              <a:rPr lang="en-US" sz="2000" i="0" dirty="0"/>
              <a:t>Janhavi Kharmale</a:t>
            </a:r>
          </a:p>
          <a:p>
            <a:pPr>
              <a:lnSpc>
                <a:spcPct val="110000"/>
              </a:lnSpc>
            </a:pPr>
            <a:r>
              <a:rPr lang="en-US" sz="2000" i="0" dirty="0"/>
              <a:t>Garima Dubey</a:t>
            </a:r>
          </a:p>
          <a:p>
            <a:pPr>
              <a:lnSpc>
                <a:spcPct val="110000"/>
              </a:lnSpc>
            </a:pPr>
            <a:r>
              <a:rPr lang="en-US" sz="2000" i="0" dirty="0" err="1"/>
              <a:t>Raajitha</a:t>
            </a:r>
            <a:r>
              <a:rPr lang="en-US" sz="2000" i="0" dirty="0"/>
              <a:t> Sai</a:t>
            </a:r>
          </a:p>
          <a:p>
            <a:pPr>
              <a:lnSpc>
                <a:spcPct val="110000"/>
              </a:lnSpc>
            </a:pPr>
            <a:r>
              <a:rPr lang="en-US" sz="2000" i="0" dirty="0" err="1"/>
              <a:t>Ruthvik</a:t>
            </a:r>
            <a:r>
              <a:rPr lang="en-US" sz="2000" i="0" dirty="0"/>
              <a:t> Bacha</a:t>
            </a:r>
          </a:p>
        </p:txBody>
      </p:sp>
      <p:sp>
        <p:nvSpPr>
          <p:cNvPr id="52" name="Rectangle 51">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31891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C3CB-9D1E-23E8-7D05-F52F3D4E0A85}"/>
              </a:ext>
            </a:extLst>
          </p:cNvPr>
          <p:cNvSpPr>
            <a:spLocks noGrp="1"/>
          </p:cNvSpPr>
          <p:nvPr>
            <p:ph type="ctrTitle"/>
          </p:nvPr>
        </p:nvSpPr>
        <p:spPr>
          <a:xfrm>
            <a:off x="517870" y="978408"/>
            <a:ext cx="11165480" cy="981021"/>
          </a:xfrm>
        </p:spPr>
        <p:txBody>
          <a:bodyPr>
            <a:normAutofit/>
          </a:bodyPr>
          <a:lstStyle/>
          <a:p>
            <a:r>
              <a:rPr lang="en-US" sz="4400" dirty="0"/>
              <a:t>Introduction</a:t>
            </a:r>
          </a:p>
        </p:txBody>
      </p:sp>
      <p:sp>
        <p:nvSpPr>
          <p:cNvPr id="3" name="Subtitle 2">
            <a:extLst>
              <a:ext uri="{FF2B5EF4-FFF2-40B4-BE49-F238E27FC236}">
                <a16:creationId xmlns:a16="http://schemas.microsoft.com/office/drawing/2014/main" id="{24A0D202-C9EF-A545-D13C-5314C6D00B02}"/>
              </a:ext>
            </a:extLst>
          </p:cNvPr>
          <p:cNvSpPr>
            <a:spLocks noGrp="1"/>
          </p:cNvSpPr>
          <p:nvPr>
            <p:ph type="subTitle" idx="1"/>
          </p:nvPr>
        </p:nvSpPr>
        <p:spPr>
          <a:xfrm>
            <a:off x="553737" y="2099136"/>
            <a:ext cx="11084525" cy="1209621"/>
          </a:xfrm>
        </p:spPr>
        <p:txBody>
          <a:bodyPr>
            <a:noAutofit/>
          </a:bodyPr>
          <a:lstStyle/>
          <a:p>
            <a:r>
              <a:rPr lang="en-US" sz="2000" b="1" i="0" dirty="0"/>
              <a:t>Objective: </a:t>
            </a:r>
          </a:p>
          <a:p>
            <a:pPr marL="342900" indent="-342900">
              <a:buFont typeface="Arial" panose="020B0604020202020204" pitchFamily="34" charset="0"/>
              <a:buChar char="•"/>
            </a:pPr>
            <a:r>
              <a:rPr lang="en-US" sz="2000" i="0" dirty="0"/>
              <a:t>Analyze trends in traffic incidents to understand key patterns and factors.</a:t>
            </a:r>
          </a:p>
          <a:p>
            <a:pPr marL="342900" indent="-342900">
              <a:buFont typeface="Arial" panose="020B0604020202020204" pitchFamily="34" charset="0"/>
              <a:buChar char="•"/>
            </a:pPr>
            <a:r>
              <a:rPr lang="en-US" sz="2000" i="0" dirty="0"/>
              <a:t>Predict crash severity using machine learning models to support proactive safety measures.</a:t>
            </a:r>
          </a:p>
        </p:txBody>
      </p:sp>
      <p:sp>
        <p:nvSpPr>
          <p:cNvPr id="6" name="TextBox 5">
            <a:extLst>
              <a:ext uri="{FF2B5EF4-FFF2-40B4-BE49-F238E27FC236}">
                <a16:creationId xmlns:a16="http://schemas.microsoft.com/office/drawing/2014/main" id="{F15AEAE3-D992-692D-2018-CAF930D114C5}"/>
              </a:ext>
            </a:extLst>
          </p:cNvPr>
          <p:cNvSpPr txBox="1"/>
          <p:nvPr/>
        </p:nvSpPr>
        <p:spPr>
          <a:xfrm>
            <a:off x="553737" y="3753262"/>
            <a:ext cx="10330543" cy="1323439"/>
          </a:xfrm>
          <a:prstGeom prst="rect">
            <a:avLst/>
          </a:prstGeom>
          <a:noFill/>
        </p:spPr>
        <p:txBody>
          <a:bodyPr wrap="square" rtlCol="0">
            <a:spAutoFit/>
          </a:bodyPr>
          <a:lstStyle/>
          <a:p>
            <a:r>
              <a:rPr lang="en-US" sz="2000" b="1" dirty="0"/>
              <a:t>Data Source:</a:t>
            </a:r>
          </a:p>
          <a:p>
            <a:r>
              <a:rPr lang="en-US" sz="2000" dirty="0"/>
              <a:t>Chicago Data Portal - Traffic Incidents Dataset </a:t>
            </a:r>
          </a:p>
          <a:p>
            <a:pPr marL="342900" indent="-342900">
              <a:buFont typeface="Arial" panose="020B0604020202020204" pitchFamily="34" charset="0"/>
              <a:buChar char="•"/>
            </a:pPr>
            <a:r>
              <a:rPr lang="en-US" sz="2000" dirty="0"/>
              <a:t>Comprehensive records of traffic incidents in Chicago, covering various attributes related to incident details and severity.</a:t>
            </a:r>
          </a:p>
        </p:txBody>
      </p:sp>
    </p:spTree>
    <p:extLst>
      <p:ext uri="{BB962C8B-B14F-4D97-AF65-F5344CB8AC3E}">
        <p14:creationId xmlns:p14="http://schemas.microsoft.com/office/powerpoint/2010/main" val="2876630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DEB1F3-E96D-3837-62B7-F029D21AD63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6D16C4DE-5FF1-8D34-BBA1-FC43F3155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Picture 4" descr="A screenshot of a computer program&#10;&#10;Description automatically generated">
            <a:extLst>
              <a:ext uri="{FF2B5EF4-FFF2-40B4-BE49-F238E27FC236}">
                <a16:creationId xmlns:a16="http://schemas.microsoft.com/office/drawing/2014/main" id="{7ECD545B-7A8C-0AFB-8853-49FC701B4BA0}"/>
              </a:ext>
            </a:extLst>
          </p:cNvPr>
          <p:cNvPicPr>
            <a:picLocks noChangeAspect="1"/>
          </p:cNvPicPr>
          <p:nvPr/>
        </p:nvPicPr>
        <p:blipFill>
          <a:blip r:embed="rId2"/>
          <a:srcRect r="5592" b="-1"/>
          <a:stretch/>
        </p:blipFill>
        <p:spPr>
          <a:xfrm>
            <a:off x="517871" y="2921001"/>
            <a:ext cx="11149534" cy="3424936"/>
          </a:xfrm>
          <a:prstGeom prst="rect">
            <a:avLst/>
          </a:prstGeom>
        </p:spPr>
      </p:pic>
      <p:sp>
        <p:nvSpPr>
          <p:cNvPr id="2" name="Title 1">
            <a:extLst>
              <a:ext uri="{FF2B5EF4-FFF2-40B4-BE49-F238E27FC236}">
                <a16:creationId xmlns:a16="http://schemas.microsoft.com/office/drawing/2014/main" id="{FD29195F-264A-C07B-AD85-ACA3F3E00957}"/>
              </a:ext>
            </a:extLst>
          </p:cNvPr>
          <p:cNvSpPr>
            <a:spLocks noGrp="1"/>
          </p:cNvSpPr>
          <p:nvPr>
            <p:ph type="ctrTitle"/>
          </p:nvPr>
        </p:nvSpPr>
        <p:spPr>
          <a:xfrm>
            <a:off x="521208" y="976161"/>
            <a:ext cx="4799921" cy="1687792"/>
          </a:xfrm>
        </p:spPr>
        <p:txBody>
          <a:bodyPr vert="horz" lIns="91440" tIns="45720" rIns="91440" bIns="45720" rtlCol="0" anchor="t">
            <a:normAutofit/>
          </a:bodyPr>
          <a:lstStyle/>
          <a:p>
            <a:r>
              <a:rPr lang="en-US" sz="4400" dirty="0"/>
              <a:t>Data and Methodology</a:t>
            </a:r>
          </a:p>
        </p:txBody>
      </p:sp>
      <p:sp>
        <p:nvSpPr>
          <p:cNvPr id="3" name="Subtitle 2">
            <a:extLst>
              <a:ext uri="{FF2B5EF4-FFF2-40B4-BE49-F238E27FC236}">
                <a16:creationId xmlns:a16="http://schemas.microsoft.com/office/drawing/2014/main" id="{6E5D0592-5144-A546-3A97-B1E898201122}"/>
              </a:ext>
            </a:extLst>
          </p:cNvPr>
          <p:cNvSpPr>
            <a:spLocks noGrp="1"/>
          </p:cNvSpPr>
          <p:nvPr>
            <p:ph type="subTitle" idx="1"/>
          </p:nvPr>
        </p:nvSpPr>
        <p:spPr>
          <a:xfrm>
            <a:off x="5842677" y="1061721"/>
            <a:ext cx="5824728" cy="1627632"/>
          </a:xfrm>
        </p:spPr>
        <p:txBody>
          <a:bodyPr vert="horz" lIns="91440" tIns="45720" rIns="91440" bIns="45720" rtlCol="0">
            <a:normAutofit/>
          </a:bodyPr>
          <a:lstStyle/>
          <a:p>
            <a:r>
              <a:rPr lang="en-US" sz="1500" b="1" i="0"/>
              <a:t>Steps: </a:t>
            </a:r>
          </a:p>
          <a:p>
            <a:pPr marL="342900" indent="-342900">
              <a:buFont typeface="Arial" panose="020B0604020202020204" pitchFamily="34" charset="0"/>
              <a:buChar char="•"/>
            </a:pPr>
            <a:r>
              <a:rPr lang="en-US" sz="1500" i="0"/>
              <a:t>Data loading and setup using PySpark</a:t>
            </a:r>
          </a:p>
          <a:p>
            <a:pPr marL="342900" indent="-342900">
              <a:buFont typeface="Arial" panose="020B0604020202020204" pitchFamily="34" charset="0"/>
              <a:buChar char="•"/>
            </a:pPr>
            <a:r>
              <a:rPr lang="en-US" sz="1500" i="0"/>
              <a:t>Data cleaning: Handling null values, type casting</a:t>
            </a:r>
          </a:p>
          <a:p>
            <a:pPr marL="342900" indent="-342900">
              <a:buFont typeface="Arial" panose="020B0604020202020204" pitchFamily="34" charset="0"/>
              <a:buChar char="•"/>
            </a:pPr>
            <a:r>
              <a:rPr lang="en-US" sz="1500" i="0"/>
              <a:t>Exploratory Data Analysis (EDA) to identify key patterns and trends</a:t>
            </a:r>
          </a:p>
        </p:txBody>
      </p:sp>
      <p:sp>
        <p:nvSpPr>
          <p:cNvPr id="18" name="Freeform: Shape 17">
            <a:extLst>
              <a:ext uri="{FF2B5EF4-FFF2-40B4-BE49-F238E27FC236}">
                <a16:creationId xmlns:a16="http://schemas.microsoft.com/office/drawing/2014/main" id="{B6914053-73D7-E377-E88C-94E35AAD4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70429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7" name="Picture 6">
            <a:extLst>
              <a:ext uri="{FF2B5EF4-FFF2-40B4-BE49-F238E27FC236}">
                <a16:creationId xmlns:a16="http://schemas.microsoft.com/office/drawing/2014/main" id="{9BDAB7ED-AB73-E132-319F-71218D77EFB2}"/>
              </a:ext>
            </a:extLst>
          </p:cNvPr>
          <p:cNvPicPr>
            <a:picLocks noChangeAspect="1"/>
          </p:cNvPicPr>
          <p:nvPr/>
        </p:nvPicPr>
        <p:blipFill>
          <a:blip r:embed="rId2"/>
          <a:srcRect r="12599" b="-2"/>
          <a:stretch/>
        </p:blipFill>
        <p:spPr>
          <a:xfrm>
            <a:off x="5958018" y="508090"/>
            <a:ext cx="5709726" cy="5846989"/>
          </a:xfrm>
          <a:prstGeom prst="rect">
            <a:avLst/>
          </a:prstGeom>
        </p:spPr>
      </p:pic>
      <p:sp>
        <p:nvSpPr>
          <p:cNvPr id="2" name="Title 1">
            <a:extLst>
              <a:ext uri="{FF2B5EF4-FFF2-40B4-BE49-F238E27FC236}">
                <a16:creationId xmlns:a16="http://schemas.microsoft.com/office/drawing/2014/main" id="{4B10DBEE-8F5D-C42F-1FC7-251BBB4A0FC0}"/>
              </a:ext>
            </a:extLst>
          </p:cNvPr>
          <p:cNvSpPr>
            <a:spLocks noGrp="1"/>
          </p:cNvSpPr>
          <p:nvPr>
            <p:ph type="title"/>
          </p:nvPr>
        </p:nvSpPr>
        <p:spPr>
          <a:xfrm>
            <a:off x="517871" y="976160"/>
            <a:ext cx="4798200" cy="1463040"/>
          </a:xfrm>
        </p:spPr>
        <p:txBody>
          <a:bodyPr vert="horz" lIns="91440" tIns="45720" rIns="91440" bIns="45720" rtlCol="0" anchor="t">
            <a:normAutofit/>
          </a:bodyPr>
          <a:lstStyle/>
          <a:p>
            <a:r>
              <a:rPr lang="en-US" sz="4400" dirty="0"/>
              <a:t>Key Insights from EDA</a:t>
            </a:r>
          </a:p>
        </p:txBody>
      </p:sp>
      <p:sp>
        <p:nvSpPr>
          <p:cNvPr id="3" name="TextBox 2">
            <a:extLst>
              <a:ext uri="{FF2B5EF4-FFF2-40B4-BE49-F238E27FC236}">
                <a16:creationId xmlns:a16="http://schemas.microsoft.com/office/drawing/2014/main" id="{71A4D686-5DE8-596F-D4D1-382B76883A3B}"/>
              </a:ext>
            </a:extLst>
          </p:cNvPr>
          <p:cNvSpPr txBox="1"/>
          <p:nvPr/>
        </p:nvSpPr>
        <p:spPr>
          <a:xfrm>
            <a:off x="517871" y="2578608"/>
            <a:ext cx="4672966" cy="3767328"/>
          </a:xfrm>
          <a:prstGeom prst="rect">
            <a:avLst/>
          </a:prstGeom>
        </p:spPr>
        <p:txBody>
          <a:bodyPr vert="horz" lIns="91440" tIns="45720" rIns="91440" bIns="45720" rtlCol="0">
            <a:normAutofit/>
          </a:bodyPr>
          <a:lstStyle/>
          <a:p>
            <a:pPr>
              <a:lnSpc>
                <a:spcPct val="110000"/>
              </a:lnSpc>
              <a:spcAft>
                <a:spcPts val="600"/>
              </a:spcAft>
              <a:buFont typeface="Arial" panose="020B0604020202020204" pitchFamily="34" charset="0"/>
            </a:pPr>
            <a:r>
              <a:rPr lang="en-US" b="1" dirty="0"/>
              <a:t>Crash Incidents by Day of the Week:</a:t>
            </a:r>
          </a:p>
          <a:p>
            <a:pPr>
              <a:lnSpc>
                <a:spcPct val="110000"/>
              </a:lnSpc>
              <a:spcAft>
                <a:spcPts val="600"/>
              </a:spcAft>
            </a:pPr>
            <a:endParaRPr lang="en-US" dirty="0"/>
          </a:p>
          <a:p>
            <a:pPr>
              <a:lnSpc>
                <a:spcPct val="110000"/>
              </a:lnSpc>
              <a:spcAft>
                <a:spcPts val="600"/>
              </a:spcAft>
              <a:buFont typeface="Arial" panose="020B0604020202020204" pitchFamily="34" charset="0"/>
            </a:pPr>
            <a:r>
              <a:rPr lang="en-US" dirty="0"/>
              <a:t>Investigates the frequency of traffic incidents across different days of the week, helping identify patterns in crash occurrences. By analyzing which days have the highest number of crashes, we can gain insights into the days with increased accident risks, potentially related to traffic volume or behavioral patterns.</a:t>
            </a:r>
          </a:p>
        </p:txBody>
      </p:sp>
      <p:sp>
        <p:nvSpPr>
          <p:cNvPr id="26" name="Rectangle 25">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14870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12818F-79F6-6053-0190-005D7CB1B00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F39751-14D6-2F99-6431-29C0948EBA4D}"/>
              </a:ext>
            </a:extLst>
          </p:cNvPr>
          <p:cNvSpPr>
            <a:spLocks noGrp="1"/>
          </p:cNvSpPr>
          <p:nvPr>
            <p:ph type="title"/>
          </p:nvPr>
        </p:nvSpPr>
        <p:spPr>
          <a:xfrm>
            <a:off x="517867" y="976160"/>
            <a:ext cx="6300216" cy="1322903"/>
          </a:xfrm>
        </p:spPr>
        <p:txBody>
          <a:bodyPr vert="horz" lIns="91440" tIns="45720" rIns="91440" bIns="45720" rtlCol="0" anchor="t">
            <a:normAutofit/>
          </a:bodyPr>
          <a:lstStyle/>
          <a:p>
            <a:r>
              <a:rPr lang="en-US" sz="4400" dirty="0"/>
              <a:t>Key Insights from EDA</a:t>
            </a:r>
          </a:p>
        </p:txBody>
      </p:sp>
      <p:sp>
        <p:nvSpPr>
          <p:cNvPr id="3" name="TextBox 2">
            <a:extLst>
              <a:ext uri="{FF2B5EF4-FFF2-40B4-BE49-F238E27FC236}">
                <a16:creationId xmlns:a16="http://schemas.microsoft.com/office/drawing/2014/main" id="{D176E378-DE3A-66FF-5FB3-25B3770ED11C}"/>
              </a:ext>
            </a:extLst>
          </p:cNvPr>
          <p:cNvSpPr txBox="1"/>
          <p:nvPr/>
        </p:nvSpPr>
        <p:spPr>
          <a:xfrm>
            <a:off x="7513613" y="1924611"/>
            <a:ext cx="4160520" cy="4046940"/>
          </a:xfrm>
          <a:prstGeom prst="rect">
            <a:avLst/>
          </a:prstGeom>
        </p:spPr>
        <p:txBody>
          <a:bodyPr vert="horz" lIns="91440" tIns="45720" rIns="91440" bIns="45720" rtlCol="0">
            <a:normAutofit/>
          </a:bodyPr>
          <a:lstStyle/>
          <a:p>
            <a:pPr>
              <a:lnSpc>
                <a:spcPct val="110000"/>
              </a:lnSpc>
              <a:spcAft>
                <a:spcPts val="600"/>
              </a:spcAft>
              <a:buFont typeface="Arial" panose="020B0604020202020204" pitchFamily="34" charset="0"/>
            </a:pPr>
            <a:r>
              <a:rPr lang="en-US" b="1" dirty="0"/>
              <a:t>Analysis of Average Posted Speed Limit for Injury-Related Incidents:</a:t>
            </a:r>
          </a:p>
          <a:p>
            <a:pPr>
              <a:lnSpc>
                <a:spcPct val="110000"/>
              </a:lnSpc>
              <a:spcAft>
                <a:spcPts val="600"/>
              </a:spcAft>
              <a:buFont typeface="Arial" panose="020B0604020202020204" pitchFamily="34" charset="0"/>
            </a:pPr>
            <a:endParaRPr lang="en-US" dirty="0"/>
          </a:p>
          <a:p>
            <a:pPr>
              <a:lnSpc>
                <a:spcPct val="110000"/>
              </a:lnSpc>
              <a:spcAft>
                <a:spcPts val="600"/>
              </a:spcAft>
              <a:buFont typeface="Arial" panose="020B0604020202020204" pitchFamily="34" charset="0"/>
            </a:pPr>
            <a:r>
              <a:rPr lang="en-US" dirty="0"/>
              <a:t>This analysis aims to investigate whether there is a correlation between posted speed limits and incidents that result in injuries. By calculating the average speed limit at locations where injury-related incidents occurred, we can gain insights into whether higher speed limits contribute to more severe incidents. </a:t>
            </a:r>
          </a:p>
        </p:txBody>
      </p:sp>
      <p:sp>
        <p:nvSpPr>
          <p:cNvPr id="22" name="Rectangle 2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2D298DD-A03D-378A-6468-6C85475453F9}"/>
              </a:ext>
            </a:extLst>
          </p:cNvPr>
          <p:cNvPicPr>
            <a:picLocks noChangeAspect="1"/>
          </p:cNvPicPr>
          <p:nvPr/>
        </p:nvPicPr>
        <p:blipFill>
          <a:blip r:embed="rId2"/>
          <a:stretch>
            <a:fillRect/>
          </a:stretch>
        </p:blipFill>
        <p:spPr>
          <a:xfrm>
            <a:off x="536155" y="2092235"/>
            <a:ext cx="6281928" cy="4046940"/>
          </a:xfrm>
          <a:prstGeom prst="rect">
            <a:avLst/>
          </a:prstGeom>
        </p:spPr>
      </p:pic>
    </p:spTree>
    <p:extLst>
      <p:ext uri="{BB962C8B-B14F-4D97-AF65-F5344CB8AC3E}">
        <p14:creationId xmlns:p14="http://schemas.microsoft.com/office/powerpoint/2010/main" val="273132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Picture 4">
            <a:extLst>
              <a:ext uri="{FF2B5EF4-FFF2-40B4-BE49-F238E27FC236}">
                <a16:creationId xmlns:a16="http://schemas.microsoft.com/office/drawing/2014/main" id="{8B62C18F-8AA0-47BF-09E7-AF9D24D34446}"/>
              </a:ext>
            </a:extLst>
          </p:cNvPr>
          <p:cNvPicPr>
            <a:picLocks noChangeAspect="1"/>
          </p:cNvPicPr>
          <p:nvPr/>
        </p:nvPicPr>
        <p:blipFill>
          <a:blip r:embed="rId2"/>
          <a:srcRect r="20712" b="1"/>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611FE91E-7995-8174-2982-2664566E720C}"/>
              </a:ext>
            </a:extLst>
          </p:cNvPr>
          <p:cNvSpPr>
            <a:spLocks noGrp="1"/>
          </p:cNvSpPr>
          <p:nvPr>
            <p:ph type="title"/>
          </p:nvPr>
        </p:nvSpPr>
        <p:spPr>
          <a:xfrm>
            <a:off x="7001547" y="976160"/>
            <a:ext cx="4822899" cy="1463040"/>
          </a:xfrm>
        </p:spPr>
        <p:txBody>
          <a:bodyPr vert="horz" lIns="91440" tIns="45720" rIns="91440" bIns="45720" rtlCol="0" anchor="t">
            <a:normAutofit/>
          </a:bodyPr>
          <a:lstStyle/>
          <a:p>
            <a:r>
              <a:rPr lang="en-US" sz="4400" dirty="0"/>
              <a:t>Key Insights from EDA</a:t>
            </a:r>
          </a:p>
        </p:txBody>
      </p:sp>
      <p:sp>
        <p:nvSpPr>
          <p:cNvPr id="3" name="TextBox 2">
            <a:extLst>
              <a:ext uri="{FF2B5EF4-FFF2-40B4-BE49-F238E27FC236}">
                <a16:creationId xmlns:a16="http://schemas.microsoft.com/office/drawing/2014/main" id="{5B4F21EA-FA46-AA42-E645-1B8EC87F53B1}"/>
              </a:ext>
            </a:extLst>
          </p:cNvPr>
          <p:cNvSpPr txBox="1"/>
          <p:nvPr/>
        </p:nvSpPr>
        <p:spPr>
          <a:xfrm>
            <a:off x="7001548" y="2578608"/>
            <a:ext cx="4672584" cy="3767328"/>
          </a:xfrm>
          <a:prstGeom prst="rect">
            <a:avLst/>
          </a:prstGeom>
        </p:spPr>
        <p:txBody>
          <a:bodyPr vert="horz" lIns="91440" tIns="45720" rIns="91440" bIns="45720" rtlCol="0">
            <a:normAutofit/>
          </a:bodyPr>
          <a:lstStyle/>
          <a:p>
            <a:pPr>
              <a:lnSpc>
                <a:spcPct val="110000"/>
              </a:lnSpc>
              <a:spcAft>
                <a:spcPts val="600"/>
              </a:spcAft>
              <a:buFont typeface="Arial" panose="020B0604020202020204" pitchFamily="34" charset="0"/>
            </a:pPr>
            <a:r>
              <a:rPr lang="en-US" b="1" dirty="0"/>
              <a:t>Analysis of Incident Counts by Weather Condition:</a:t>
            </a:r>
            <a:endParaRPr lang="en-US" b="1"/>
          </a:p>
          <a:p>
            <a:pPr>
              <a:lnSpc>
                <a:spcPct val="110000"/>
              </a:lnSpc>
              <a:spcAft>
                <a:spcPts val="600"/>
              </a:spcAft>
              <a:buFont typeface="Arial" panose="020B0604020202020204" pitchFamily="34" charset="0"/>
            </a:pPr>
            <a:endParaRPr lang="en-US" b="1"/>
          </a:p>
          <a:p>
            <a:pPr>
              <a:lnSpc>
                <a:spcPct val="110000"/>
              </a:lnSpc>
              <a:spcAft>
                <a:spcPts val="600"/>
              </a:spcAft>
              <a:buFont typeface="Arial" panose="020B0604020202020204" pitchFamily="34" charset="0"/>
            </a:pPr>
            <a:r>
              <a:rPr lang="en-US" dirty="0"/>
              <a:t>This analysis focuses on examining how different weather conditions correlate with the frequency of traffic incidents. Using the `</a:t>
            </a:r>
            <a:r>
              <a:rPr lang="en-US"/>
              <a:t>traffic_incidents_temp</a:t>
            </a:r>
            <a:r>
              <a:rPr lang="en-US" dirty="0"/>
              <a:t>` view, we group incidents by `</a:t>
            </a:r>
            <a:r>
              <a:rPr lang="en-US"/>
              <a:t>weather_condition</a:t>
            </a:r>
            <a:r>
              <a:rPr lang="en-US" dirty="0"/>
              <a:t>` to calculate the total number of incidents associated with each type of weather.</a:t>
            </a:r>
            <a:endParaRPr lang="en-US"/>
          </a:p>
          <a:p>
            <a:pPr>
              <a:lnSpc>
                <a:spcPct val="110000"/>
              </a:lnSpc>
              <a:spcAft>
                <a:spcPts val="600"/>
              </a:spcAft>
              <a:buFont typeface="Arial" panose="020B0604020202020204" pitchFamily="34" charset="0"/>
            </a:pPr>
            <a:endParaRPr lang="en-US" b="1"/>
          </a:p>
          <a:p>
            <a:pPr>
              <a:lnSpc>
                <a:spcPct val="110000"/>
              </a:lnSpc>
              <a:spcAft>
                <a:spcPts val="600"/>
              </a:spcAft>
              <a:buFont typeface="Arial" panose="020B0604020202020204" pitchFamily="34" charset="0"/>
            </a:pPr>
            <a:endParaRPr lang="en-US"/>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167558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B2CEE-D409-C6EA-D7CE-6B39800A5020}"/>
              </a:ext>
            </a:extLst>
          </p:cNvPr>
          <p:cNvSpPr>
            <a:spLocks noGrp="1"/>
          </p:cNvSpPr>
          <p:nvPr>
            <p:ph type="title"/>
          </p:nvPr>
        </p:nvSpPr>
        <p:spPr/>
        <p:txBody>
          <a:bodyPr/>
          <a:lstStyle/>
          <a:p>
            <a:r>
              <a:rPr lang="en-US" dirty="0"/>
              <a:t>Conclusion</a:t>
            </a:r>
          </a:p>
        </p:txBody>
      </p:sp>
      <p:sp>
        <p:nvSpPr>
          <p:cNvPr id="4" name="Subtitle 2">
            <a:extLst>
              <a:ext uri="{FF2B5EF4-FFF2-40B4-BE49-F238E27FC236}">
                <a16:creationId xmlns:a16="http://schemas.microsoft.com/office/drawing/2014/main" id="{47418CB5-9040-BA71-321A-C29887C80736}"/>
              </a:ext>
            </a:extLst>
          </p:cNvPr>
          <p:cNvSpPr txBox="1">
            <a:spLocks/>
          </p:cNvSpPr>
          <p:nvPr/>
        </p:nvSpPr>
        <p:spPr>
          <a:xfrm>
            <a:off x="520607" y="1613223"/>
            <a:ext cx="11084525" cy="1209621"/>
          </a:xfrm>
          <a:prstGeom prst="rect">
            <a:avLst/>
          </a:prstGeom>
        </p:spPr>
        <p:txBody>
          <a:bodyPr lIns="91440" tIns="45720" rIns="91440" bIns="45720" anchor="t">
            <a:no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p>
          <a:p>
            <a:pPr>
              <a:buChar char="•"/>
            </a:pPr>
            <a:r>
              <a:rPr lang="en-US" dirty="0">
                <a:ea typeface="+mn-lt"/>
                <a:cs typeface="+mn-lt"/>
              </a:rPr>
              <a:t> Our analysis of Chicago traffic crashes has provided critical insights into the factors affecting crash severity, including weather conditions, speed limits, lighting, and other external factors.</a:t>
            </a:r>
          </a:p>
          <a:p>
            <a:pPr>
              <a:buChar char="•"/>
            </a:pPr>
            <a:r>
              <a:rPr lang="en-US" dirty="0">
                <a:ea typeface="+mn-lt"/>
                <a:cs typeface="+mn-lt"/>
              </a:rPr>
              <a:t> Key findings include strong correlations between specific weather conditions and crash severity, identification of high-risk zones.</a:t>
            </a:r>
          </a:p>
          <a:p>
            <a:pPr>
              <a:buChar char="•"/>
            </a:pPr>
            <a:r>
              <a:rPr lang="en-US" dirty="0">
                <a:ea typeface="+mn-lt"/>
                <a:cs typeface="+mn-lt"/>
              </a:rPr>
              <a:t> These insights can support targeted interventions, inform traffic regulation policies, and guide urban planning efforts to reduce crash rates and improve road safety. </a:t>
            </a:r>
            <a:endParaRPr lang="en-US">
              <a:ea typeface="+mn-lt"/>
              <a:cs typeface="+mn-lt"/>
            </a:endParaRPr>
          </a:p>
          <a:p>
            <a:pPr>
              <a:buChar char="•"/>
            </a:pPr>
            <a:r>
              <a:rPr lang="en-US" dirty="0">
                <a:ea typeface="+mn-lt"/>
                <a:cs typeface="+mn-lt"/>
              </a:rPr>
              <a:t> This project underscores the value of big data tools in advancing data-driven strategies for public safety and proactive traffic management.</a:t>
            </a:r>
            <a:endParaRPr lang="en-US"/>
          </a:p>
        </p:txBody>
      </p:sp>
    </p:spTree>
    <p:extLst>
      <p:ext uri="{BB962C8B-B14F-4D97-AF65-F5344CB8AC3E}">
        <p14:creationId xmlns:p14="http://schemas.microsoft.com/office/powerpoint/2010/main" val="845518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EC251-3096-3E03-CAA3-BFAE51EB16E4}"/>
              </a:ext>
            </a:extLst>
          </p:cNvPr>
          <p:cNvSpPr>
            <a:spLocks noGrp="1"/>
          </p:cNvSpPr>
          <p:nvPr>
            <p:ph type="title"/>
          </p:nvPr>
        </p:nvSpPr>
        <p:spPr/>
        <p:txBody>
          <a:bodyPr/>
          <a:lstStyle/>
          <a:p>
            <a:r>
              <a:rPr lang="en-US" dirty="0"/>
              <a:t>Future Scope </a:t>
            </a:r>
          </a:p>
        </p:txBody>
      </p:sp>
      <p:sp>
        <p:nvSpPr>
          <p:cNvPr id="3" name="TextBox 2">
            <a:extLst>
              <a:ext uri="{FF2B5EF4-FFF2-40B4-BE49-F238E27FC236}">
                <a16:creationId xmlns:a16="http://schemas.microsoft.com/office/drawing/2014/main" id="{9811BB51-930A-0FD4-1385-00B6C70AD9A3}"/>
              </a:ext>
            </a:extLst>
          </p:cNvPr>
          <p:cNvSpPr txBox="1"/>
          <p:nvPr/>
        </p:nvSpPr>
        <p:spPr>
          <a:xfrm>
            <a:off x="516835" y="1963530"/>
            <a:ext cx="9402416"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Predictive Analysis:</a:t>
            </a:r>
          </a:p>
          <a:p>
            <a:pPr marL="342900" indent="-342900">
              <a:buFont typeface="Arial"/>
              <a:buChar char="•"/>
            </a:pPr>
            <a:r>
              <a:rPr lang="en-US" sz="2000" dirty="0">
                <a:ea typeface="+mn-lt"/>
                <a:cs typeface="+mn-lt"/>
              </a:rPr>
              <a:t>Predictive analysis can inform proactive safety measures by adjusting speed limits in high-risk areas and improving lighting in vulnerable zones. These data-driven interventions help reduce crash severity, enhance visibility, and support safer traffic and infrastructure planning.</a:t>
            </a:r>
            <a:endParaRPr lang="en-US" dirty="0">
              <a:ea typeface="+mn-lt"/>
              <a:cs typeface="+mn-lt"/>
            </a:endParaRPr>
          </a:p>
          <a:p>
            <a:endParaRPr lang="en-US" sz="2000" b="1" dirty="0">
              <a:ea typeface="+mn-lt"/>
              <a:cs typeface="+mn-lt"/>
            </a:endParaRPr>
          </a:p>
          <a:p>
            <a:r>
              <a:rPr lang="en-US" sz="2000" b="1" dirty="0">
                <a:ea typeface="+mn-lt"/>
                <a:cs typeface="+mn-lt"/>
              </a:rPr>
              <a:t>Adjust Speed Limits in High-Risk Areas</a:t>
            </a:r>
            <a:r>
              <a:rPr lang="en-US" sz="2000" dirty="0">
                <a:ea typeface="+mn-lt"/>
                <a:cs typeface="+mn-lt"/>
              </a:rPr>
              <a:t>:</a:t>
            </a:r>
            <a:endParaRPr lang="en-US"/>
          </a:p>
          <a:p>
            <a:pPr marL="285750" indent="-285750">
              <a:spcBef>
                <a:spcPts val="1000"/>
              </a:spcBef>
              <a:buFont typeface="Arial"/>
              <a:buChar char="•"/>
            </a:pPr>
            <a:r>
              <a:rPr lang="en-US" sz="2000" dirty="0">
                <a:ea typeface="+mn-lt"/>
                <a:cs typeface="+mn-lt"/>
              </a:rPr>
              <a:t>In areas identified with frequent crashes, adjusting speed limits based on data insights can enhance road safety. Lowering speed limits in high-risk zones helps reduce crash severity by giving drivers more time to react.</a:t>
            </a:r>
          </a:p>
          <a:p>
            <a:pPr marL="285750" indent="-285750">
              <a:spcBef>
                <a:spcPts val="1000"/>
              </a:spcBef>
              <a:buFont typeface="Arial"/>
              <a:buChar char="•"/>
            </a:pPr>
            <a:endParaRPr lang="en-US" sz="2000" dirty="0">
              <a:ea typeface="+mn-lt"/>
              <a:cs typeface="Arial"/>
            </a:endParaRPr>
          </a:p>
          <a:p>
            <a:pPr marL="285750" indent="-285750">
              <a:spcBef>
                <a:spcPts val="1000"/>
              </a:spcBef>
              <a:buFont typeface="Arial"/>
              <a:buChar char="•"/>
            </a:pPr>
            <a:endParaRPr lang="en-US" sz="2000" dirty="0">
              <a:ea typeface="+mn-lt"/>
              <a:cs typeface="Arial"/>
            </a:endParaRPr>
          </a:p>
          <a:p>
            <a:pPr marL="342900" indent="-342900">
              <a:buFont typeface="Arial"/>
              <a:buChar char="•"/>
            </a:pPr>
            <a:endParaRPr lang="en-US" sz="2000" dirty="0">
              <a:cs typeface="Arial"/>
            </a:endParaRPr>
          </a:p>
        </p:txBody>
      </p:sp>
    </p:spTree>
    <p:extLst>
      <p:ext uri="{BB962C8B-B14F-4D97-AF65-F5344CB8AC3E}">
        <p14:creationId xmlns:p14="http://schemas.microsoft.com/office/powerpoint/2010/main" val="2815169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F2229-0C0F-AE20-EFF3-32DBF2AB39D6}"/>
              </a:ext>
            </a:extLst>
          </p:cNvPr>
          <p:cNvSpPr>
            <a:spLocks noGrp="1"/>
          </p:cNvSpPr>
          <p:nvPr>
            <p:ph type="ctrTitle"/>
          </p:nvPr>
        </p:nvSpPr>
        <p:spPr>
          <a:xfrm>
            <a:off x="517870" y="978408"/>
            <a:ext cx="10533588" cy="5074226"/>
          </a:xfrm>
        </p:spPr>
        <p:txBody>
          <a:bodyPr/>
          <a:lstStyle/>
          <a:p>
            <a:r>
              <a:rPr lang="en-US" dirty="0"/>
              <a:t>     </a:t>
            </a:r>
            <a:br>
              <a:rPr lang="en-US" dirty="0"/>
            </a:br>
            <a:br>
              <a:rPr lang="en-US" dirty="0"/>
            </a:br>
            <a:r>
              <a:rPr lang="en-US"/>
              <a:t>                   Thank you!!!</a:t>
            </a:r>
            <a:endParaRPr lang="en-US" dirty="0"/>
          </a:p>
        </p:txBody>
      </p:sp>
    </p:spTree>
    <p:extLst>
      <p:ext uri="{BB962C8B-B14F-4D97-AF65-F5344CB8AC3E}">
        <p14:creationId xmlns:p14="http://schemas.microsoft.com/office/powerpoint/2010/main" val="1121586867"/>
      </p:ext>
    </p:extLst>
  </p:cSld>
  <p:clrMapOvr>
    <a:masterClrMapping/>
  </p:clrMapOvr>
</p:sld>
</file>

<file path=ppt/theme/theme1.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52</TotalTime>
  <Words>497</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Bierstadt</vt:lpstr>
      <vt:lpstr>GestaltVTI</vt:lpstr>
      <vt:lpstr>Traffic Crash Analysis on Chicago Dataset</vt:lpstr>
      <vt:lpstr>Introduction</vt:lpstr>
      <vt:lpstr>Data and Methodology</vt:lpstr>
      <vt:lpstr>Key Insights from EDA</vt:lpstr>
      <vt:lpstr>Key Insights from EDA</vt:lpstr>
      <vt:lpstr>Key Insights from EDA</vt:lpstr>
      <vt:lpstr>Conclusion</vt:lpstr>
      <vt:lpstr>Future Scope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Janhavi Anantprakash Kharmale</dc:creator>
  <cp:lastModifiedBy>Garima Dubey</cp:lastModifiedBy>
  <cp:revision>145</cp:revision>
  <dcterms:created xsi:type="dcterms:W3CDTF">2024-11-06T01:35:38Z</dcterms:created>
  <dcterms:modified xsi:type="dcterms:W3CDTF">2024-11-06T17:18:25Z</dcterms:modified>
</cp:coreProperties>
</file>